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f998cd71a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f998cd7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bd89d32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bd89d3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bd89d32f_0_2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bd89d32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bd89d32f_0_3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bd89d32f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bd89d32f_0_2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fbd89d32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bd89d32f_0_3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bd89d32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bd89d32f_0_3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bd89d32f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fbd89d32f_0_3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fbd89d32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Flight Delays Prediction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Manile Srun (u3273786)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Introduction</a:t>
            </a:r>
            <a:endParaRPr b="1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</a:t>
            </a:r>
            <a:r>
              <a:rPr lang="en" sz="1600"/>
              <a:t>he business problem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Dataset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Summary of On-Premises vs On-Cloud Workflows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Key findings, Model Performance, Comparisons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Conclusion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reflect on challenges and lessons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 Business Problem </a:t>
            </a:r>
            <a:endParaRPr/>
          </a:p>
        </p:txBody>
      </p:sp>
      <p:sp>
        <p:nvSpPr>
          <p:cNvPr id="80" name="Google Shape;80;p15"/>
          <p:cNvSpPr txBox="1"/>
          <p:nvPr>
            <p:ph idx="4294967295" type="body"/>
          </p:nvPr>
        </p:nvSpPr>
        <p:spPr>
          <a:xfrm>
            <a:off x="98250" y="914200"/>
            <a:ext cx="8826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Business Problem: 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</a:t>
            </a:r>
            <a:r>
              <a:rPr lang="en" sz="1600"/>
              <a:t>ravel booking website wants to alert customers about potential weather-related flight delays BEFORE booking.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Business Goal: 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Improve the customer booking experience by </a:t>
            </a:r>
            <a:r>
              <a:rPr b="1" lang="en" sz="1600"/>
              <a:t>predicting potential delays early.</a:t>
            </a:r>
            <a:endParaRPr b="1"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Business Impact: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Improved customer satisfaction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Reduced complaints about unexpected delays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 Dataset</a:t>
            </a:r>
            <a:endParaRPr/>
          </a:p>
        </p:txBody>
      </p:sp>
      <p:sp>
        <p:nvSpPr>
          <p:cNvPr id="86" name="Google Shape;86;p16"/>
          <p:cNvSpPr txBox="1"/>
          <p:nvPr>
            <p:ph idx="4294967295" type="body"/>
          </p:nvPr>
        </p:nvSpPr>
        <p:spPr>
          <a:xfrm>
            <a:off x="98250" y="914200"/>
            <a:ext cx="8826600" cy="32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Source: </a:t>
            </a:r>
            <a:r>
              <a:rPr lang="en"/>
              <a:t>US Bureau of Transportation Statistics (BTS)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Time Period: </a:t>
            </a:r>
            <a:r>
              <a:rPr lang="en"/>
              <a:t>2014-2018 (U.S airports)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Size: </a:t>
            </a:r>
            <a:r>
              <a:rPr lang="en"/>
              <a:t>60 compressed files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Target: </a:t>
            </a:r>
            <a:r>
              <a:rPr lang="en"/>
              <a:t>ArrDel15 (arrival delay 15 mins) -&gt; is_delay (0=no delay, 1=delay)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Features: 110 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Simplify features</a:t>
            </a:r>
            <a:r>
              <a:rPr lang="en"/>
              <a:t>:</a:t>
            </a:r>
            <a:r>
              <a:rPr lang="en"/>
              <a:t> Year, Quarter, Month, DayofMonth, DayOfWeek, FlightDate, Reporting_Airline, Origin, OriginState, Dest, DestState, CRSDepTime, DepDelayMinutes, DepartureDelayGroups, Cancelled, Diverted, Distance, DistanceGroup, ArrDelay, ArrDelayMinutes, ArrDel15, AirTime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On-Premises</a:t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2822581" y="1189775"/>
            <a:ext cx="2065732" cy="3483050"/>
            <a:chOff x="5632317" y="1189775"/>
            <a:chExt cx="3305700" cy="3483050"/>
          </a:xfrm>
        </p:grpSpPr>
        <p:sp>
          <p:nvSpPr>
            <p:cNvPr id="93" name="Google Shape;93;p17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Preprocessing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5831251" y="2057125"/>
              <a:ext cx="2923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Filtering the required columns again (10)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numerical vs categorical (one-hot encoding and BUCKETIZE i.e DepHourofDay)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c. produced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combined_csv_v1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0" y="1190004"/>
            <a:ext cx="1692226" cy="3367346"/>
            <a:chOff x="0" y="1189989"/>
            <a:chExt cx="3546900" cy="3367346"/>
          </a:xfrm>
        </p:grpSpPr>
        <p:sp>
          <p:nvSpPr>
            <p:cNvPr id="96" name="Google Shape;96;p17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Handling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205932" y="2057136"/>
              <a:ext cx="3132600" cy="25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C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ombining all CSV files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 Filtering the usable columns (20)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c. Handling missing values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d. Defining the target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" name="Google Shape;98;p17"/>
          <p:cNvGrpSpPr/>
          <p:nvPr/>
        </p:nvGrpSpPr>
        <p:grpSpPr>
          <a:xfrm>
            <a:off x="1340486" y="1189775"/>
            <a:ext cx="1900777" cy="3483050"/>
            <a:chOff x="2944204" y="1189775"/>
            <a:chExt cx="3305700" cy="3483050"/>
          </a:xfrm>
        </p:grpSpPr>
        <p:sp>
          <p:nvSpPr>
            <p:cNvPr id="99" name="Google Shape;99;p17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exploration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3113924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Class imbalance (80% no delay, 20% delay) -&gt; biased models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Explore different variables (i.e. Which airline has the most delays?, Which months have the most delays?)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>
            <a:off x="4494476" y="1189775"/>
            <a:ext cx="1847225" cy="3483050"/>
            <a:chOff x="8292117" y="1189775"/>
            <a:chExt cx="3305700" cy="3483050"/>
          </a:xfrm>
        </p:grpSpPr>
        <p:sp>
          <p:nvSpPr>
            <p:cNvPr id="102" name="Google Shape;102;p17"/>
            <p:cNvSpPr/>
            <p:nvPr/>
          </p:nvSpPr>
          <p:spPr>
            <a:xfrm>
              <a:off x="82921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8461837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Split train-test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. Base Model: Logistic Regression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. Evaluation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Not good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" name="Google Shape;104;p17"/>
          <p:cNvGrpSpPr/>
          <p:nvPr/>
        </p:nvGrpSpPr>
        <p:grpSpPr>
          <a:xfrm>
            <a:off x="5961808" y="1189775"/>
            <a:ext cx="1847225" cy="3483050"/>
            <a:chOff x="5754801" y="1189775"/>
            <a:chExt cx="3305700" cy="3483050"/>
          </a:xfrm>
        </p:grpSpPr>
        <p:sp>
          <p:nvSpPr>
            <p:cNvPr id="105" name="Google Shape;105;p17"/>
            <p:cNvSpPr/>
            <p:nvPr/>
          </p:nvSpPr>
          <p:spPr>
            <a:xfrm>
              <a:off x="5754801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5831251" y="2057125"/>
              <a:ext cx="2923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Adding new features: holidays, weather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b. combined_csv_v2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" name="Google Shape;107;p17"/>
          <p:cNvGrpSpPr/>
          <p:nvPr/>
        </p:nvGrpSpPr>
        <p:grpSpPr>
          <a:xfrm>
            <a:off x="7439883" y="1189775"/>
            <a:ext cx="1692188" cy="3483050"/>
            <a:chOff x="8292117" y="1189775"/>
            <a:chExt cx="3305700" cy="3483050"/>
          </a:xfrm>
        </p:grpSpPr>
        <p:sp>
          <p:nvSpPr>
            <p:cNvPr id="108" name="Google Shape;108;p17"/>
            <p:cNvSpPr/>
            <p:nvPr/>
          </p:nvSpPr>
          <p:spPr>
            <a:xfrm>
              <a:off x="82921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Re-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8461837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Split train-test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Model: Logistic Regression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c. Evaluation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Better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On-cloud workflows</a:t>
            </a:r>
            <a:endParaRPr/>
          </a:p>
        </p:txBody>
      </p:sp>
      <p:grpSp>
        <p:nvGrpSpPr>
          <p:cNvPr id="115" name="Google Shape;115;p18"/>
          <p:cNvGrpSpPr/>
          <p:nvPr/>
        </p:nvGrpSpPr>
        <p:grpSpPr>
          <a:xfrm>
            <a:off x="2822581" y="1189775"/>
            <a:ext cx="2065732" cy="3483050"/>
            <a:chOff x="5632317" y="1189775"/>
            <a:chExt cx="3305700" cy="3483050"/>
          </a:xfrm>
        </p:grpSpPr>
        <p:sp>
          <p:nvSpPr>
            <p:cNvPr id="116" name="Google Shape;116;p18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 Deployment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5831251" y="2057125"/>
              <a:ext cx="2923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Host the model on another instance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8"/>
          <p:cNvGrpSpPr/>
          <p:nvPr/>
        </p:nvGrpSpPr>
        <p:grpSpPr>
          <a:xfrm>
            <a:off x="0" y="1190004"/>
            <a:ext cx="1692226" cy="3367346"/>
            <a:chOff x="0" y="1189989"/>
            <a:chExt cx="3546900" cy="3367346"/>
          </a:xfrm>
        </p:grpSpPr>
        <p:sp>
          <p:nvSpPr>
            <p:cNvPr id="119" name="Google Shape;119;p18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Uploading Data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205932" y="2057136"/>
              <a:ext cx="3132600" cy="25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Using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combined_csv_v1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and Uploading to bucket S3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Splitting into train/validate/test (70-15-15)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  - Organized in S3 folders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1340486" y="1189775"/>
            <a:ext cx="1900777" cy="3483050"/>
            <a:chOff x="2944204" y="1189775"/>
            <a:chExt cx="3305700" cy="3483050"/>
          </a:xfrm>
        </p:grpSpPr>
        <p:sp>
          <p:nvSpPr>
            <p:cNvPr id="122" name="Google Shape;122;p18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Training Model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3113924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Model 1: Linear Learner (Baseline)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Hyperparameters (binary_classifier, 10 epochs)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" name="Google Shape;124;p18"/>
          <p:cNvGrpSpPr/>
          <p:nvPr/>
        </p:nvGrpSpPr>
        <p:grpSpPr>
          <a:xfrm>
            <a:off x="4494476" y="1189775"/>
            <a:ext cx="1847225" cy="3483050"/>
            <a:chOff x="8292117" y="1189775"/>
            <a:chExt cx="3305700" cy="3483050"/>
          </a:xfrm>
        </p:grpSpPr>
        <p:sp>
          <p:nvSpPr>
            <p:cNvPr id="125" name="Google Shape;125;p18"/>
            <p:cNvSpPr/>
            <p:nvPr/>
          </p:nvSpPr>
          <p:spPr>
            <a:xfrm>
              <a:off x="82921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Batch Transform (Testing)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8461837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Processing the entire test dataset through the trained model at once to generate predictions for evaluation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8"/>
          <p:cNvGrpSpPr/>
          <p:nvPr/>
        </p:nvGrpSpPr>
        <p:grpSpPr>
          <a:xfrm>
            <a:off x="5961808" y="1189775"/>
            <a:ext cx="1847225" cy="3483050"/>
            <a:chOff x="5754801" y="1189775"/>
            <a:chExt cx="3305700" cy="3483050"/>
          </a:xfrm>
        </p:grpSpPr>
        <p:sp>
          <p:nvSpPr>
            <p:cNvPr id="128" name="Google Shape;128;p18"/>
            <p:cNvSpPr/>
            <p:nvPr/>
          </p:nvSpPr>
          <p:spPr>
            <a:xfrm>
              <a:off x="5754801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5831251" y="2057125"/>
              <a:ext cx="2923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Evaluation: Not good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18"/>
          <p:cNvGrpSpPr/>
          <p:nvPr/>
        </p:nvGrpSpPr>
        <p:grpSpPr>
          <a:xfrm>
            <a:off x="7439883" y="1189775"/>
            <a:ext cx="1692188" cy="3483050"/>
            <a:chOff x="8292117" y="1189775"/>
            <a:chExt cx="3305700" cy="3483050"/>
          </a:xfrm>
        </p:grpSpPr>
        <p:sp>
          <p:nvSpPr>
            <p:cNvPr id="131" name="Google Shape;131;p18"/>
            <p:cNvSpPr/>
            <p:nvPr/>
          </p:nvSpPr>
          <p:spPr>
            <a:xfrm>
              <a:off x="82921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Repeat Again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8461837" y="2057125"/>
              <a:ext cx="2943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a. Repeat the previous steps again but with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combined_csv_v2 + XGBoost Model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b. Evaluation: Better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findings, Model Performance, Comparisons: On-Premises </a:t>
            </a:r>
            <a:endParaRPr/>
          </a:p>
        </p:txBody>
      </p:sp>
      <p:pic>
        <p:nvPicPr>
          <p:cNvPr id="138" name="Google Shape;138;p19" title="Screenshot 2025-11-03 at 10.41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75" y="907575"/>
            <a:ext cx="3530998" cy="30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 title="Screenshot 2025-11-03 at 10.42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825" y="907575"/>
            <a:ext cx="3804443" cy="30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title="Screenshot 2025-11-03 at 10.43.30 pm.png"/>
          <p:cNvPicPr preferRelativeResize="0"/>
          <p:nvPr/>
        </p:nvPicPr>
        <p:blipFill rotWithShape="1">
          <a:blip r:embed="rId5">
            <a:alphaModFix/>
          </a:blip>
          <a:srcRect b="0" l="0" r="0" t="28433"/>
          <a:stretch/>
        </p:blipFill>
        <p:spPr>
          <a:xfrm>
            <a:off x="3654075" y="4103750"/>
            <a:ext cx="1456225" cy="8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findings, Model Performance, Comparisons: On-Premises (Iteration) </a:t>
            </a:r>
            <a:endParaRPr/>
          </a:p>
        </p:txBody>
      </p:sp>
      <p:pic>
        <p:nvPicPr>
          <p:cNvPr id="146" name="Google Shape;146;p20" title="Screenshot 2025-11-03 at 10.46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00" y="771450"/>
            <a:ext cx="4031649" cy="319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Screenshot 2025-11-03 at 10.46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97663"/>
            <a:ext cx="4031650" cy="314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 title="Screenshot 2025-11-03 at 10.47.0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0263" y="4045975"/>
            <a:ext cx="1503475" cy="9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findings, Model Performance, Comparisons: On-cloud</a:t>
            </a:r>
            <a:endParaRPr/>
          </a:p>
        </p:txBody>
      </p:sp>
      <p:pic>
        <p:nvPicPr>
          <p:cNvPr id="154" name="Google Shape;154;p21" title="Screenshot 2025-11-03 at 10.48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38" y="773175"/>
            <a:ext cx="8418115" cy="311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 title="Screenshot 2025-11-03 at 10.48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2325" y="4043225"/>
            <a:ext cx="1911800" cy="9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findings, Model Performance, Comparisons: On-cloud (iteration)</a:t>
            </a: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68"/>
            <a:ext cx="8839203" cy="3222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 title="Screenshot 2025-11-03 at 11.37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750" y="4077925"/>
            <a:ext cx="2161275" cy="9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 Challenges + Lessons Learnt</a:t>
            </a:r>
            <a:endParaRPr/>
          </a:p>
        </p:txBody>
      </p:sp>
      <p:sp>
        <p:nvSpPr>
          <p:cNvPr id="168" name="Google Shape;168;p23"/>
          <p:cNvSpPr txBox="1"/>
          <p:nvPr>
            <p:ph idx="4294967295" type="body"/>
          </p:nvPr>
        </p:nvSpPr>
        <p:spPr>
          <a:xfrm>
            <a:off x="98250" y="914200"/>
            <a:ext cx="8826600" cy="3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Challenges: </a:t>
            </a:r>
            <a:endParaRPr b="1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Large Dataset -&gt; slow to process locally and difficult to upload to AWS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AWS setup complexity -&gt; configuring S3 bucket</a:t>
            </a:r>
            <a:r>
              <a:rPr lang="en" sz="1500"/>
              <a:t>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n" sz="1500"/>
              <a:t>Lessons: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Learned how to clean and preprocess large datasets efficiently using Pandas and sampling strategies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Gained hands-on experience with AWS SageMaker, including training, deployment, and batch inference.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